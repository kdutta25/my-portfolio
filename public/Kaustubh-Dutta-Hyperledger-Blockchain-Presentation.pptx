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</p:sldMasterIdLst>
  <p:notesMasterIdLst>
    <p:notesMasterId r:id="rId18"/>
  </p:notesMasterIdLst>
  <p:sldIdLst>
    <p:sldId id="256" r:id="rId3"/>
    <p:sldId id="257" r:id="rId4"/>
    <p:sldId id="258" r:id="rId5"/>
    <p:sldId id="282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3" r:id="rId15"/>
    <p:sldId id="272" r:id="rId16"/>
    <p:sldId id="273" r:id="rId17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9"/>
    </p:embeddedFont>
    <p:embeddedFont>
      <p:font typeface="Times" panose="02020603050405020304" pitchFamily="18" charset="0"/>
      <p:regular r:id="rId20"/>
      <p:bold r:id="rId21"/>
      <p:italic r:id="rId22"/>
      <p:boldItalic r:id="rId23"/>
    </p:embeddedFont>
    <p:embeddedFont>
      <p:font typeface="Verdana" panose="020B060403050404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2" autoAdjust="0"/>
    <p:restoredTop sz="94624" autoAdjust="0"/>
  </p:normalViewPr>
  <p:slideViewPr>
    <p:cSldViewPr snapToGrid="0">
      <p:cViewPr varScale="1">
        <p:scale>
          <a:sx n="58" d="100"/>
          <a:sy n="58" d="100"/>
        </p:scale>
        <p:origin x="76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4e1b8141f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4" name="Google Shape;184;g4e1b8141f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g4e1b8141f7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e1b8141f7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3" name="Google Shape;203;g4e1b8141f7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g4e1b8141f7_2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4e1b8141f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g4e1b8141f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4e1b8141f7_2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53" name="Google Shape;353;g4e1b8141f7_2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4e1b8141f7_2_1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4e1b8141f7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61" name="Google Shape;361;g4e1b8141f7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g4e1b8141f7_2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 amt="0"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4" name="Google Shape;14;p2" descr="to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16;p2" descr="uOttawa_HOR_WG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 descr="FMFM_CORP_FOOTER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12750" y="692696"/>
            <a:ext cx="7774632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395536" y="1700808"/>
            <a:ext cx="7772400" cy="375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pic>
        <p:nvPicPr>
          <p:cNvPr id="21" name="Google Shape;21;p3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" name="Google Shape;24;p3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10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48200" y="1524000"/>
            <a:ext cx="3810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pic>
        <p:nvPicPr>
          <p:cNvPr id="38" name="Google Shape;38;p5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1" name="Google Shape;41;p5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" name="Google Shape;45;p6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8" name="Google Shape;48;p6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6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7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4" name="Google Shape;54;p7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7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57200" y="404664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3575050" y="404664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2"/>
          </p:nvPr>
        </p:nvSpPr>
        <p:spPr>
          <a:xfrm>
            <a:off x="457200" y="1772816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pic>
        <p:nvPicPr>
          <p:cNvPr id="60" name="Google Shape;60;p8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3" name="Google Shape;63;p8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8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1792288" y="4302422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3536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1792288" y="4869160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pic>
        <p:nvPicPr>
          <p:cNvPr id="69" name="Google Shape;69;p9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1" name="Google Shape;71;p9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2" name="Google Shape;72;p9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9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 rot="5400000">
            <a:off x="2628900" y="-419100"/>
            <a:ext cx="38862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pic>
        <p:nvPicPr>
          <p:cNvPr id="77" name="Google Shape;77;p10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" name="Google Shape;79;p10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0" name="Google Shape;80;p10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0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 rot="5400000">
            <a:off x="4972050" y="1924050"/>
            <a:ext cx="50292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 rot="5400000">
            <a:off x="1009650" y="57150"/>
            <a:ext cx="50292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pic>
        <p:nvPicPr>
          <p:cNvPr id="85" name="Google Shape;85;p11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1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8" name="Google Shape;88;p11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1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412750" y="692696"/>
            <a:ext cx="7774632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body" idx="1"/>
          </p:nvPr>
        </p:nvSpPr>
        <p:spPr>
          <a:xfrm>
            <a:off x="395536" y="1700808"/>
            <a:ext cx="7772400" cy="375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pic>
        <p:nvPicPr>
          <p:cNvPr id="96" name="Google Shape;96;p13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9" name="Google Shape;99;p13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pic>
        <p:nvPicPr>
          <p:cNvPr id="113" name="Google Shape;113;p15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6" name="Google Shape;116;p15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722313" y="4281115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722313" y="2780928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pic>
        <p:nvPicPr>
          <p:cNvPr id="121" name="Google Shape;121;p16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p16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10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2"/>
          </p:nvPr>
        </p:nvSpPr>
        <p:spPr>
          <a:xfrm>
            <a:off x="4648200" y="1524000"/>
            <a:ext cx="3810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pic>
        <p:nvPicPr>
          <p:cNvPr id="130" name="Google Shape;130;p17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" name="Google Shape;133;p17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7" name="Google Shape;137;p18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0" name="Google Shape;140;p18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6" name="Google Shape;146;p19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457200" y="404664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body" idx="1"/>
          </p:nvPr>
        </p:nvSpPr>
        <p:spPr>
          <a:xfrm>
            <a:off x="3575050" y="404664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body" idx="2"/>
          </p:nvPr>
        </p:nvSpPr>
        <p:spPr>
          <a:xfrm>
            <a:off x="457200" y="1772816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pic>
        <p:nvPicPr>
          <p:cNvPr id="152" name="Google Shape;152;p20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5" name="Google Shape;155;p20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>
            <a:spLocks noGrp="1"/>
          </p:cNvSpPr>
          <p:nvPr>
            <p:ph type="title"/>
          </p:nvPr>
        </p:nvSpPr>
        <p:spPr>
          <a:xfrm>
            <a:off x="1792288" y="4302422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3536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body" idx="1"/>
          </p:nvPr>
        </p:nvSpPr>
        <p:spPr>
          <a:xfrm>
            <a:off x="1792288" y="4869160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pic>
        <p:nvPicPr>
          <p:cNvPr id="161" name="Google Shape;161;p21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4" name="Google Shape;164;p21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1"/>
          </p:nvPr>
        </p:nvSpPr>
        <p:spPr>
          <a:xfrm rot="5400000">
            <a:off x="2628900" y="-419100"/>
            <a:ext cx="38862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pic>
        <p:nvPicPr>
          <p:cNvPr id="169" name="Google Shape;169;p22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2" name="Google Shape;172;p22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>
            <a:spLocks noGrp="1"/>
          </p:cNvSpPr>
          <p:nvPr>
            <p:ph type="title"/>
          </p:nvPr>
        </p:nvSpPr>
        <p:spPr>
          <a:xfrm rot="5400000">
            <a:off x="4972050" y="1924050"/>
            <a:ext cx="50292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body" idx="1"/>
          </p:nvPr>
        </p:nvSpPr>
        <p:spPr>
          <a:xfrm rot="5400000">
            <a:off x="1009650" y="57150"/>
            <a:ext cx="50292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pic>
        <p:nvPicPr>
          <p:cNvPr id="177" name="Google Shape;177;p23" descr="top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866"/>
            <a:ext cx="9144002" cy="38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0" y="5768214"/>
            <a:ext cx="9144000" cy="886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179512" y="6152115"/>
            <a:ext cx="45365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A69C95"/>
                </a:solidFill>
                <a:latin typeface="Verdana"/>
                <a:ea typeface="Verdana"/>
                <a:cs typeface="Verdana"/>
                <a:sym typeface="Verdana"/>
              </a:rPr>
              <a:t>uOttawa.ca</a:t>
            </a:r>
            <a:endParaRPr sz="1200" b="1" i="0" u="none" strike="noStrike" cap="none">
              <a:solidFill>
                <a:srgbClr val="A69C9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0" name="Google Shape;180;p23" descr="uOttawa_HOR_WG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9367" y="5947834"/>
            <a:ext cx="1697566" cy="45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 descr="FMFM_CORP_FOOT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729" y="6650864"/>
            <a:ext cx="9171460" cy="21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 amt="0"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7772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 amt="0"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7772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hyperledger-uottawa.kaustubhdutta.com:8080/tes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SCC.2018.00041" TargetMode="External"/><Relationship Id="rId3" Type="http://schemas.openxmlformats.org/officeDocument/2006/relationships/hyperlink" Target="https://www.hyperledger.org/wp-content/uploads/2018/04/Hyperledger_Arch_WG_Paper_2_SmartContracts.pdf" TargetMode="External"/><Relationship Id="rId7" Type="http://schemas.openxmlformats.org/officeDocument/2006/relationships/hyperlink" Target="https://doi.org/10.1109/MCOM.2017.170087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doi.org/10.1109/ICENCO.2018.8636131" TargetMode="External"/><Relationship Id="rId5" Type="http://schemas.openxmlformats.org/officeDocument/2006/relationships/hyperlink" Target="https://doi.org/10.1109/SRDS.2017.36" TargetMode="External"/><Relationship Id="rId4" Type="http://schemas.openxmlformats.org/officeDocument/2006/relationships/hyperlink" Target="https://doi.org/10.1109/DSN.2018.00018" TargetMode="External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4" descr="Medicine5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2852"/>
            <a:ext cx="9143999" cy="559212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/>
          <p:nvPr/>
        </p:nvSpPr>
        <p:spPr>
          <a:xfrm>
            <a:off x="1913437" y="1673166"/>
            <a:ext cx="78510" cy="321320"/>
          </a:xfrm>
          <a:prstGeom prst="rect">
            <a:avLst/>
          </a:prstGeom>
          <a:solidFill>
            <a:srgbClr val="2F1A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9C95"/>
              </a:buClr>
              <a:buSzPts val="2400"/>
              <a:buFont typeface="Times"/>
              <a:buNone/>
            </a:pPr>
            <a:r>
              <a:rPr lang="en-US" sz="2400" b="0" i="0" u="none" strike="noStrike" cap="none">
                <a:solidFill>
                  <a:srgbClr val="A69C95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400" b="0" i="0" u="none" strike="noStrike" cap="none">
              <a:solidFill>
                <a:srgbClr val="A69C95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9" name="Google Shape;189;p24"/>
          <p:cNvGrpSpPr/>
          <p:nvPr/>
        </p:nvGrpSpPr>
        <p:grpSpPr>
          <a:xfrm>
            <a:off x="-13729" y="-1866"/>
            <a:ext cx="9172670" cy="6866731"/>
            <a:chOff x="-13729" y="-1866"/>
            <a:chExt cx="9172670" cy="6866731"/>
          </a:xfrm>
        </p:grpSpPr>
        <p:sp>
          <p:nvSpPr>
            <p:cNvPr id="190" name="Google Shape;190;p24"/>
            <p:cNvSpPr/>
            <p:nvPr/>
          </p:nvSpPr>
          <p:spPr>
            <a:xfrm>
              <a:off x="-6643" y="5704704"/>
              <a:ext cx="9165584" cy="950222"/>
            </a:xfrm>
            <a:prstGeom prst="rect">
              <a:avLst/>
            </a:prstGeom>
            <a:solidFill>
              <a:schemeClr val="dk1">
                <a:alpha val="7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191" name="Google Shape;191;p24" descr="uOttawa_HOR_WHIT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213600" y="5949280"/>
              <a:ext cx="1693389" cy="452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4" descr="top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1" y="-1866"/>
              <a:ext cx="9144002" cy="3843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4"/>
            <p:cNvSpPr txBox="1"/>
            <p:nvPr/>
          </p:nvSpPr>
          <p:spPr>
            <a:xfrm>
              <a:off x="179512" y="6152115"/>
              <a:ext cx="45365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uOttawa.ca</a:t>
              </a:r>
              <a:endParaRPr sz="1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pic>
          <p:nvPicPr>
            <p:cNvPr id="194" name="Google Shape;194;p24" descr="FMFM_CORP_FOOTER.jp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-13729" y="6650864"/>
              <a:ext cx="9171460" cy="21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4"/>
            <p:cNvSpPr txBox="1"/>
            <p:nvPr/>
          </p:nvSpPr>
          <p:spPr>
            <a:xfrm>
              <a:off x="179512" y="5753851"/>
              <a:ext cx="6408712" cy="36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EBC 6997: Research Project in E-Business</a:t>
              </a:r>
              <a:endParaRPr sz="16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96" name="Google Shape;196;p24"/>
          <p:cNvSpPr txBox="1"/>
          <p:nvPr/>
        </p:nvSpPr>
        <p:spPr>
          <a:xfrm>
            <a:off x="1979708" y="582811"/>
            <a:ext cx="7164300" cy="79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Hyperledger Fabric</a:t>
            </a:r>
            <a:endParaRPr sz="2400" b="1" i="0" u="none" strike="noStrike" cap="none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1979708" y="1359163"/>
            <a:ext cx="71643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1979708" y="1675226"/>
            <a:ext cx="7164300" cy="28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1901102" y="576461"/>
            <a:ext cx="78600" cy="1224000"/>
          </a:xfrm>
          <a:prstGeom prst="rect">
            <a:avLst/>
          </a:prstGeom>
          <a:solidFill>
            <a:srgbClr val="2F1A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endParaRPr sz="2400" b="0" i="0" u="none" strike="noStrike" cap="none">
              <a:solidFill>
                <a:srgbClr val="A69C95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3CF9F8-0DCE-4780-95DB-AD7C6ED3D2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4224" y="598735"/>
            <a:ext cx="2009775" cy="571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/>
        </p:nvSpPr>
        <p:spPr>
          <a:xfrm>
            <a:off x="253218" y="1547446"/>
            <a:ext cx="8890782" cy="383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Char char="▪"/>
            </a:pPr>
            <a:r>
              <a:rPr lang="en-US" sz="2000" b="1" i="0" u="none" strike="noStrike" cap="none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1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Asset Type and Consensus Mechanism</a:t>
            </a: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Char char="▪"/>
            </a:pPr>
            <a:r>
              <a:rPr lang="en-US" sz="2000" b="1" i="0" u="none" strike="noStrike" cap="none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1" i="0" u="none" strike="noStrike" cap="none" dirty="0" err="1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Chaincode</a:t>
            </a:r>
            <a:endParaRPr lang="en-US"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Char char="▪"/>
            </a:pPr>
            <a:endParaRPr lang="en-US" sz="2000" b="1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Char char="▪"/>
            </a:pPr>
            <a:r>
              <a:rPr lang="en-US" sz="2000" b="1" i="0" u="none" strike="noStrike" cap="none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 Permissions</a:t>
            </a:r>
            <a:endParaRPr sz="1400" b="0" i="0" u="none" strike="noStrike" cap="none" dirty="0">
              <a:solidFill>
                <a:srgbClr val="A215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Char char="▪"/>
            </a:pPr>
            <a:r>
              <a:rPr lang="en-US" sz="2000" b="1" i="0" u="none" strike="noStrike" cap="none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1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Nodes: Peer and Ordering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Char char="▪"/>
            </a:pPr>
            <a:r>
              <a:rPr lang="en-US" sz="2000" b="1" i="0" u="none" strike="noStrike" cap="none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 Asset Tracking: Blockchain Log and State Database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Char char="▪"/>
            </a:pPr>
            <a:r>
              <a:rPr lang="en-US" sz="2000" b="1" i="0" u="none" strike="noStrike" cap="none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 Future Impacts</a:t>
            </a: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1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1522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0" y="552019"/>
            <a:ext cx="7774632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800" b="1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Hyperledger Fabric</a:t>
            </a:r>
            <a:endParaRPr sz="28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8" name="Google Shape;208;p25" descr="Image result for volvo fh series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5" descr="Image result for volvo fh series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926719-F916-47F5-9804-B40566C18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/>
          <p:nvPr/>
        </p:nvSpPr>
        <p:spPr>
          <a:xfrm>
            <a:off x="0" y="552019"/>
            <a:ext cx="7774632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Hyperledger Fabric: </a:t>
            </a:r>
            <a:endParaRPr sz="28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126609" y="1416115"/>
            <a:ext cx="8890782" cy="306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Widely used private blockchain.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Primarily used in Enterprise level.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Implement seamless Business Transactions.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Transactions are efficient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Modular design – Businesses can plugin different functionality to suit their customized needs.</a:t>
            </a:r>
            <a:endParaRPr sz="2000" i="0" u="none" strike="noStrike" cap="none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1" name="Google Shape;221;p26" descr="Image result for drone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 descr="Image result for drone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 descr="Image result for drone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956FCD-03C4-4F04-9AE8-1B2546B51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D43A4-DF8E-431E-A09E-5DAFCDA28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815"/>
            <a:ext cx="7774632" cy="864096"/>
          </a:xfrm>
        </p:spPr>
        <p:txBody>
          <a:bodyPr/>
          <a:lstStyle/>
          <a:p>
            <a:r>
              <a:rPr lang="en-US" dirty="0"/>
              <a:t>Differences</a:t>
            </a:r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821ECE-FC64-494D-9264-50AA7842A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648733"/>
              </p:ext>
            </p:extLst>
          </p:nvPr>
        </p:nvGraphicFramePr>
        <p:xfrm>
          <a:off x="1524000" y="1264797"/>
          <a:ext cx="6096000" cy="36118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95096907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98106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Ethereum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Hyperledger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26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CA" dirty="0"/>
                        <a:t>Decentralized platform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Hyperledger is multi project and open source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096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CA" dirty="0"/>
                        <a:t>Public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dirty="0"/>
                        <a:t>Consortium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70940"/>
                  </a:ext>
                </a:extLst>
              </a:tr>
              <a:tr h="335708">
                <a:tc>
                  <a:txBody>
                    <a:bodyPr/>
                    <a:lstStyle/>
                    <a:p>
                      <a:pPr algn="l"/>
                      <a:r>
                        <a:rPr lang="en-CA" dirty="0"/>
                        <a:t>Consensus Mechanism:</a:t>
                      </a:r>
                    </a:p>
                    <a:p>
                      <a:pPr algn="l"/>
                      <a:r>
                        <a:rPr lang="en-CA" dirty="0"/>
                        <a:t>• Proof of Work</a:t>
                      </a:r>
                    </a:p>
                    <a:p>
                      <a:pPr algn="l"/>
                      <a:r>
                        <a:rPr lang="en-CA" dirty="0"/>
                        <a:t>• # function is used for transactions</a:t>
                      </a:r>
                    </a:p>
                    <a:p>
                      <a:pPr algn="l"/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dirty="0"/>
                        <a:t>No Consensus Mechanism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dirty="0"/>
                        <a:t>Information is stored in a 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41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CA" dirty="0"/>
                        <a:t>Smart Contract: Solidity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dirty="0"/>
                        <a:t>Smart Contract: </a:t>
                      </a:r>
                      <a:r>
                        <a:rPr lang="en-CA" dirty="0" err="1"/>
                        <a:t>Chaincode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89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Maintenance:</a:t>
                      </a:r>
                      <a:endParaRPr lang="en-CA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Ethereum Developer Community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Maintenance:</a:t>
                      </a:r>
                      <a:endParaRPr lang="en-CA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Linux Foundation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959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Business to Customer (B2C)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Business to Business (B2B)</a:t>
                      </a:r>
                      <a:endParaRPr lang="en-CA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Confidential use cases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961238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D736F0-109F-466E-B990-588897940CD5}"/>
              </a:ext>
            </a:extLst>
          </p:cNvPr>
          <p:cNvCxnSpPr/>
          <p:nvPr/>
        </p:nvCxnSpPr>
        <p:spPr>
          <a:xfrm>
            <a:off x="7620000" y="1264797"/>
            <a:ext cx="0" cy="3611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A8E5B2-6B71-4CBC-85A4-55D1F0F8DC0A}"/>
              </a:ext>
            </a:extLst>
          </p:cNvPr>
          <p:cNvCxnSpPr/>
          <p:nvPr/>
        </p:nvCxnSpPr>
        <p:spPr>
          <a:xfrm>
            <a:off x="1524000" y="1264797"/>
            <a:ext cx="0" cy="3611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835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EF85C-60B6-4475-A184-F1DD78AD3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52228"/>
            <a:ext cx="9144000" cy="3753544"/>
          </a:xfrm>
        </p:spPr>
        <p:txBody>
          <a:bodyPr/>
          <a:lstStyle/>
          <a:p>
            <a:r>
              <a:rPr lang="en-US" dirty="0"/>
              <a:t>The fabric records series of transactions in a chronological order.</a:t>
            </a:r>
          </a:p>
          <a:p>
            <a:endParaRPr lang="en-US" dirty="0"/>
          </a:p>
          <a:p>
            <a:r>
              <a:rPr lang="en-US" dirty="0"/>
              <a:t>In fabric, the definition of the item undergoing a transaction is known as an asset.</a:t>
            </a:r>
          </a:p>
          <a:p>
            <a:endParaRPr lang="en-US" dirty="0"/>
          </a:p>
          <a:p>
            <a:r>
              <a:rPr lang="en-US" dirty="0"/>
              <a:t>Asset- Associated with a monetary value. (like- cars, houses)</a:t>
            </a:r>
          </a:p>
          <a:p>
            <a:endParaRPr lang="en-US" dirty="0"/>
          </a:p>
          <a:p>
            <a:r>
              <a:rPr lang="en-US" dirty="0"/>
              <a:t>Hyperledger Fabric allows the assets to have specified parameters.</a:t>
            </a:r>
            <a:endParaRPr lang="en-CA" dirty="0"/>
          </a:p>
        </p:txBody>
      </p:sp>
      <p:sp>
        <p:nvSpPr>
          <p:cNvPr id="6" name="Google Shape;216;p26">
            <a:extLst>
              <a:ext uri="{FF2B5EF4-FFF2-40B4-BE49-F238E27FC236}">
                <a16:creationId xmlns:a16="http://schemas.microsoft.com/office/drawing/2014/main" id="{76525707-E6EA-4E9B-870A-775A0A2632BF}"/>
              </a:ext>
            </a:extLst>
          </p:cNvPr>
          <p:cNvSpPr txBox="1"/>
          <p:nvPr/>
        </p:nvSpPr>
        <p:spPr>
          <a:xfrm>
            <a:off x="0" y="552019"/>
            <a:ext cx="7774632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A21522"/>
                </a:solidFill>
                <a:latin typeface="Verdana"/>
                <a:ea typeface="Verdana"/>
                <a:cs typeface="Verdana"/>
                <a:sym typeface="Verdana"/>
              </a:rPr>
              <a:t>Modules of Hyperledger Fabric: </a:t>
            </a:r>
            <a:endParaRPr sz="2800" b="1" i="0" u="none" strike="noStrike" cap="none" dirty="0">
              <a:solidFill>
                <a:srgbClr val="A2152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35F674-977A-4570-B7F4-A4EEBEAF0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437BB-14F8-4D71-B7DC-56F2CBC6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389" y="463457"/>
            <a:ext cx="7774632" cy="864096"/>
          </a:xfrm>
        </p:spPr>
        <p:txBody>
          <a:bodyPr/>
          <a:lstStyle/>
          <a:p>
            <a:r>
              <a:rPr lang="en-US" dirty="0"/>
              <a:t>What is an Asset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C5B14-B774-4302-910D-8E52F21A8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2" y="1578826"/>
            <a:ext cx="9141768" cy="3753544"/>
          </a:xfrm>
        </p:spPr>
        <p:txBody>
          <a:bodyPr/>
          <a:lstStyle/>
          <a:p>
            <a:r>
              <a:rPr lang="en-US" dirty="0"/>
              <a:t>Represented as a collection having a key value pair. 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State changes recorded as transactions on the ledger.</a:t>
            </a:r>
          </a:p>
          <a:p>
            <a:endParaRPr lang="en-CA" dirty="0"/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E9F8B-D0B2-4A16-8B57-80D3C6D5D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A2C742-063A-4620-BCF6-13625672A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31" y="2152765"/>
            <a:ext cx="67246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4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0415-6566-4AD8-9287-4BDE3C99F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0662"/>
            <a:ext cx="6533002" cy="864096"/>
          </a:xfrm>
        </p:spPr>
        <p:txBody>
          <a:bodyPr/>
          <a:lstStyle/>
          <a:p>
            <a:r>
              <a:rPr lang="en-US" dirty="0" err="1"/>
              <a:t>Chaincode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3674A-F93E-4B72-81F1-6C24355BE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78774"/>
            <a:ext cx="9144000" cy="3753544"/>
          </a:xfrm>
        </p:spPr>
        <p:txBody>
          <a:bodyPr/>
          <a:lstStyle/>
          <a:p>
            <a:r>
              <a:rPr lang="en-US" dirty="0" err="1"/>
              <a:t>Chaincode</a:t>
            </a:r>
            <a:r>
              <a:rPr lang="en-US" dirty="0"/>
              <a:t> is software defined network that has an asset and the set of instructions are used to modify them.</a:t>
            </a:r>
          </a:p>
          <a:p>
            <a:endParaRPr lang="en-US" dirty="0"/>
          </a:p>
          <a:p>
            <a:r>
              <a:rPr lang="en-US" dirty="0"/>
              <a:t>Smart Contract executes the </a:t>
            </a:r>
            <a:r>
              <a:rPr lang="en-US" dirty="0" err="1"/>
              <a:t>Chaincode</a:t>
            </a:r>
            <a:r>
              <a:rPr lang="en-US" dirty="0"/>
              <a:t> (Business Logic).</a:t>
            </a:r>
          </a:p>
          <a:p>
            <a:endParaRPr lang="en-US" dirty="0"/>
          </a:p>
          <a:p>
            <a:r>
              <a:rPr lang="en-US" dirty="0"/>
              <a:t>Helps establish a shared ecosystem like a virtual shared database.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5A6B17-B311-4508-A443-54EDA982B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80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154B-7C97-49B6-AC6F-DF34B083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2696"/>
            <a:ext cx="7774632" cy="864096"/>
          </a:xfrm>
        </p:spPr>
        <p:txBody>
          <a:bodyPr/>
          <a:lstStyle/>
          <a:p>
            <a:r>
              <a:rPr lang="en-US" dirty="0"/>
              <a:t>Permissions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30CC0-D4EB-4D0A-AF37-F593BBD48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2" y="1700808"/>
            <a:ext cx="9141768" cy="3909160"/>
          </a:xfrm>
        </p:spPr>
        <p:txBody>
          <a:bodyPr/>
          <a:lstStyle/>
          <a:p>
            <a:r>
              <a:rPr lang="en-US" dirty="0"/>
              <a:t>Permissioned Network- Based on certain access/usage rights the base </a:t>
            </a:r>
            <a:r>
              <a:rPr lang="en-US" dirty="0" err="1"/>
              <a:t>Chaincode</a:t>
            </a:r>
            <a:r>
              <a:rPr lang="en-US" dirty="0"/>
              <a:t> can be executed.</a:t>
            </a:r>
          </a:p>
          <a:p>
            <a:endParaRPr lang="en-US" dirty="0"/>
          </a:p>
          <a:p>
            <a:r>
              <a:rPr lang="en-US" dirty="0"/>
              <a:t>Membership Identification- Participants are granted access based on IDs.</a:t>
            </a:r>
          </a:p>
          <a:p>
            <a:endParaRPr lang="en-US" dirty="0"/>
          </a:p>
          <a:p>
            <a:r>
              <a:rPr lang="en-US" dirty="0"/>
              <a:t>Access Control List- Fine grained additional layers of permissions.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CDB8B3-100C-4315-9DD4-2994FCFF5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9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FE927-7CC9-4B54-A2EB-DEE50B34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7982"/>
            <a:ext cx="7774632" cy="864096"/>
          </a:xfrm>
        </p:spPr>
        <p:txBody>
          <a:bodyPr/>
          <a:lstStyle/>
          <a:p>
            <a:r>
              <a:rPr lang="en-US" dirty="0"/>
              <a:t>Types of Nodes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BAA08-C77D-4AEC-AEE2-B9D9C6A77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700808"/>
            <a:ext cx="9144000" cy="3753544"/>
          </a:xfrm>
        </p:spPr>
        <p:txBody>
          <a:bodyPr/>
          <a:lstStyle/>
          <a:p>
            <a:r>
              <a:rPr lang="en-US" dirty="0"/>
              <a:t>Peer Nodes: Execute and Verify each transactions</a:t>
            </a:r>
          </a:p>
          <a:p>
            <a:pPr marL="114300" indent="0">
              <a:buNone/>
            </a:pPr>
            <a:r>
              <a:rPr lang="en-US" dirty="0"/>
              <a:t>     (Batch and process more than one transactions all together)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r>
              <a:rPr lang="en-US" dirty="0"/>
              <a:t>Ordering Nodes: Order and Continuous Propagation of correct history of events to the network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4A748-E068-435D-802C-DD5381E83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7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4239-8A90-4922-A044-1B1B15934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4" y="668736"/>
            <a:ext cx="7774632" cy="864096"/>
          </a:xfrm>
        </p:spPr>
        <p:txBody>
          <a:bodyPr/>
          <a:lstStyle/>
          <a:p>
            <a:r>
              <a:rPr lang="en-US" dirty="0"/>
              <a:t>Tracking an Asset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6A19F-8B3A-4594-9FF3-406E46F1B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46" y="1759601"/>
            <a:ext cx="9117054" cy="2800042"/>
          </a:xfrm>
        </p:spPr>
        <p:txBody>
          <a:bodyPr/>
          <a:lstStyle/>
          <a:p>
            <a:r>
              <a:rPr lang="en-US" dirty="0"/>
              <a:t>Blockchain Log: Immutable Sequence of the transaction blocks. –</a:t>
            </a:r>
          </a:p>
          <a:p>
            <a:pPr marL="114300" indent="0">
              <a:buNone/>
            </a:pPr>
            <a:r>
              <a:rPr lang="en-US" dirty="0"/>
              <a:t>       -track when and where a Block was created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State Database: Current State of the Blockchain</a:t>
            </a:r>
          </a:p>
          <a:p>
            <a:pPr marL="114300" indent="0">
              <a:buNone/>
            </a:pPr>
            <a:r>
              <a:rPr lang="en-US" dirty="0"/>
              <a:t>    -No need to see all the previous historic data to evaluate the     </a:t>
            </a:r>
          </a:p>
          <a:p>
            <a:pPr marL="114300" indent="0">
              <a:buNone/>
            </a:pPr>
            <a:r>
              <a:rPr lang="en-US" dirty="0"/>
              <a:t>     present state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83E0B8-C25C-4626-8B4D-0EAE74E42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8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60083-0620-4D53-A277-B23415343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5626"/>
            <a:ext cx="7774632" cy="864096"/>
          </a:xfrm>
        </p:spPr>
        <p:txBody>
          <a:bodyPr/>
          <a:lstStyle/>
          <a:p>
            <a:r>
              <a:rPr lang="en-US" dirty="0"/>
              <a:t>Distributed Ledger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C4699-40FB-46D3-B958-D3BEE5FF4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2" y="1762590"/>
            <a:ext cx="9141768" cy="4307703"/>
          </a:xfrm>
        </p:spPr>
        <p:txBody>
          <a:bodyPr/>
          <a:lstStyle/>
          <a:p>
            <a:r>
              <a:rPr lang="en-US" dirty="0"/>
              <a:t>Same Business Network as Competitors.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Private Channels: Confidentiality, Privacy, Restricted Access.</a:t>
            </a:r>
          </a:p>
          <a:p>
            <a:endParaRPr lang="en-US" dirty="0"/>
          </a:p>
          <a:p>
            <a:r>
              <a:rPr lang="en-US" dirty="0"/>
              <a:t>Competitors can exist in the same Blockchain Network.</a:t>
            </a:r>
          </a:p>
          <a:p>
            <a:endParaRPr lang="en-US" dirty="0"/>
          </a:p>
          <a:p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FCEE77-5945-417F-A64E-959D3B011236}"/>
              </a:ext>
            </a:extLst>
          </p:cNvPr>
          <p:cNvSpPr/>
          <p:nvPr/>
        </p:nvSpPr>
        <p:spPr>
          <a:xfrm>
            <a:off x="3404212" y="2299771"/>
            <a:ext cx="2335576" cy="93918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EE018-1EE6-4237-B4C4-91A334BBC125}"/>
              </a:ext>
            </a:extLst>
          </p:cNvPr>
          <p:cNvSpPr txBox="1"/>
          <p:nvPr/>
        </p:nvSpPr>
        <p:spPr>
          <a:xfrm>
            <a:off x="3641074" y="2615476"/>
            <a:ext cx="1861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Distributed Ledger</a:t>
            </a:r>
            <a:endParaRPr lang="en-CA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D15C9A-4FF5-4DE2-A720-10982594851F}"/>
              </a:ext>
            </a:extLst>
          </p:cNvPr>
          <p:cNvCxnSpPr>
            <a:cxnSpLocks/>
          </p:cNvCxnSpPr>
          <p:nvPr/>
        </p:nvCxnSpPr>
        <p:spPr>
          <a:xfrm flipH="1">
            <a:off x="2346593" y="3073706"/>
            <a:ext cx="969485" cy="771528"/>
          </a:xfrm>
          <a:prstGeom prst="straightConnector1">
            <a:avLst/>
          </a:prstGeom>
          <a:ln>
            <a:solidFill>
              <a:srgbClr val="A215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07ACF5-9BE6-4904-895E-EF705FB15574}"/>
              </a:ext>
            </a:extLst>
          </p:cNvPr>
          <p:cNvCxnSpPr>
            <a:cxnSpLocks/>
          </p:cNvCxnSpPr>
          <p:nvPr/>
        </p:nvCxnSpPr>
        <p:spPr>
          <a:xfrm>
            <a:off x="5838940" y="3073706"/>
            <a:ext cx="969484" cy="771528"/>
          </a:xfrm>
          <a:prstGeom prst="straightConnector1">
            <a:avLst/>
          </a:prstGeom>
          <a:ln>
            <a:solidFill>
              <a:srgbClr val="A215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327774-6BC2-4B82-8E99-6B1977320D3D}"/>
              </a:ext>
            </a:extLst>
          </p:cNvPr>
          <p:cNvSpPr txBox="1"/>
          <p:nvPr/>
        </p:nvSpPr>
        <p:spPr>
          <a:xfrm>
            <a:off x="1707615" y="4055897"/>
            <a:ext cx="1277956" cy="30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Participant 1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76F81-ACCA-4A78-BF57-1DAB1493751F}"/>
              </a:ext>
            </a:extLst>
          </p:cNvPr>
          <p:cNvSpPr txBox="1"/>
          <p:nvPr/>
        </p:nvSpPr>
        <p:spPr>
          <a:xfrm>
            <a:off x="6323682" y="4055898"/>
            <a:ext cx="1277956" cy="30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Participant 2</a:t>
            </a:r>
            <a:endParaRPr lang="en-CA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447539-541D-42BB-8031-F44A7681E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02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A4A2-9DB9-41DE-898F-0AF0191AA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4287"/>
            <a:ext cx="7774632" cy="864096"/>
          </a:xfrm>
        </p:spPr>
        <p:txBody>
          <a:bodyPr/>
          <a:lstStyle/>
          <a:p>
            <a:r>
              <a:rPr lang="en-US" dirty="0"/>
              <a:t>Future Impacts of Hyperledger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054CE-F659-4091-95B3-514F954D0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2" y="1722841"/>
            <a:ext cx="7772400" cy="3753544"/>
          </a:xfrm>
        </p:spPr>
        <p:txBody>
          <a:bodyPr/>
          <a:lstStyle/>
          <a:p>
            <a:r>
              <a:rPr lang="en-US" dirty="0"/>
              <a:t>Highly scalable</a:t>
            </a:r>
          </a:p>
          <a:p>
            <a:endParaRPr lang="en-US" dirty="0"/>
          </a:p>
          <a:p>
            <a:r>
              <a:rPr lang="en-US" dirty="0"/>
              <a:t>Secured</a:t>
            </a:r>
          </a:p>
          <a:p>
            <a:endParaRPr lang="en-US" dirty="0"/>
          </a:p>
          <a:p>
            <a:r>
              <a:rPr lang="en-US" dirty="0"/>
              <a:t>Shared Ecosystem</a:t>
            </a:r>
          </a:p>
          <a:p>
            <a:endParaRPr lang="en-US" dirty="0"/>
          </a:p>
          <a:p>
            <a:r>
              <a:rPr lang="en-US" dirty="0"/>
              <a:t>Supply Chain Management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8284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2AD5-3B2D-483E-A3A3-F480E2CC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Walkthrough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062F4-6466-4DD9-86A0-00CF17931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982" y="1877078"/>
            <a:ext cx="8596816" cy="3753544"/>
          </a:xfrm>
        </p:spPr>
        <p:txBody>
          <a:bodyPr/>
          <a:lstStyle/>
          <a:p>
            <a:r>
              <a:rPr lang="en-US" dirty="0"/>
              <a:t>Log in: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CA" dirty="0"/>
              <a:t>   </a:t>
            </a:r>
            <a:r>
              <a:rPr lang="en-CA" dirty="0">
                <a:hlinkClick r:id="rId2"/>
              </a:rPr>
              <a:t>http://hyperledger-uottawa.kaustubhdutta.com:8080/login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52727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"/>
          <p:cNvSpPr txBox="1">
            <a:spLocks noGrp="1"/>
          </p:cNvSpPr>
          <p:nvPr>
            <p:ph type="title"/>
          </p:nvPr>
        </p:nvSpPr>
        <p:spPr>
          <a:xfrm>
            <a:off x="-20389" y="375060"/>
            <a:ext cx="7774632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References</a:t>
            </a:r>
            <a:endParaRPr/>
          </a:p>
        </p:txBody>
      </p:sp>
      <p:sp>
        <p:nvSpPr>
          <p:cNvPr id="357" name="Google Shape;357;p40"/>
          <p:cNvSpPr/>
          <p:nvPr/>
        </p:nvSpPr>
        <p:spPr>
          <a:xfrm>
            <a:off x="177594" y="1110851"/>
            <a:ext cx="8805077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8" name="Google Shape;358;p40"/>
          <p:cNvSpPr txBox="1"/>
          <p:nvPr/>
        </p:nvSpPr>
        <p:spPr>
          <a:xfrm>
            <a:off x="289882" y="838715"/>
            <a:ext cx="8519100" cy="5350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7916"/>
              </a:lnSpc>
              <a:spcBef>
                <a:spcPts val="800"/>
              </a:spcBef>
            </a:pPr>
            <a:r>
              <a:rPr lang="en-IN" dirty="0"/>
              <a:t>Linux Foundations. (2018). Hyperledger Architecture, Volume II, Smart Contracts for Blockchain Technology for Business. Retrieved from </a:t>
            </a:r>
            <a:r>
              <a:rPr lang="en-IN" u="sng" dirty="0">
                <a:hlinkClick r:id="rId3"/>
              </a:rPr>
              <a:t>https://www.hyperledger.org/wp-content/uploads/2018/04/Hyperledger_Arch_WG_Paper_2_SmartContracts.pdf</a:t>
            </a:r>
            <a:endParaRPr lang="en-CA" dirty="0"/>
          </a:p>
          <a:p>
            <a:pPr>
              <a:lnSpc>
                <a:spcPct val="107916"/>
              </a:lnSpc>
              <a:spcBef>
                <a:spcPts val="800"/>
              </a:spcBef>
            </a:pPr>
            <a:r>
              <a:rPr lang="en-IN" dirty="0"/>
              <a:t>Sousa, J., </a:t>
            </a:r>
            <a:r>
              <a:rPr lang="en-IN" dirty="0" err="1"/>
              <a:t>Bessani</a:t>
            </a:r>
            <a:r>
              <a:rPr lang="en-IN" dirty="0"/>
              <a:t>, A., &amp; </a:t>
            </a:r>
            <a:r>
              <a:rPr lang="en-IN" dirty="0" err="1"/>
              <a:t>Vukolic</a:t>
            </a:r>
            <a:r>
              <a:rPr lang="en-IN" dirty="0"/>
              <a:t>, M. (2018). A byzantine Fault-Tolerant ordering service for the </a:t>
            </a:r>
            <a:r>
              <a:rPr lang="en-IN" dirty="0" err="1"/>
              <a:t>hyperledger</a:t>
            </a:r>
            <a:r>
              <a:rPr lang="en-IN" dirty="0"/>
              <a:t> fabric blockchain platform. </a:t>
            </a:r>
            <a:r>
              <a:rPr lang="en-IN" i="1" dirty="0"/>
              <a:t>Proceedings - 48th Annual IEEE/IFIP International Conference on Dependable Systems and Networks, DSN 2018</a:t>
            </a:r>
            <a:r>
              <a:rPr lang="en-IN" dirty="0"/>
              <a:t>, (1), 51–58. Retrieved from </a:t>
            </a:r>
            <a:r>
              <a:rPr lang="en-IN" u="sng" dirty="0">
                <a:hlinkClick r:id="rId4"/>
              </a:rPr>
              <a:t>https://doi.org/10.1109/DSN.2018.00018</a:t>
            </a:r>
            <a:endParaRPr lang="en-CA" dirty="0"/>
          </a:p>
          <a:p>
            <a:pPr>
              <a:lnSpc>
                <a:spcPct val="107916"/>
              </a:lnSpc>
              <a:spcBef>
                <a:spcPts val="800"/>
              </a:spcBef>
            </a:pPr>
            <a:r>
              <a:rPr lang="en-IN" dirty="0"/>
              <a:t>Thakkar, P., N, N, S., and Viswanathan, S. (2018). Performance Benchmarking and Optimizing Hyperledger Fabric Blockchain Platform. </a:t>
            </a:r>
            <a:r>
              <a:rPr lang="en-IN" i="1" dirty="0"/>
              <a:t>IEEE 26th Int. </a:t>
            </a:r>
            <a:r>
              <a:rPr lang="en-IN" i="1" dirty="0" err="1"/>
              <a:t>Symp</a:t>
            </a:r>
            <a:r>
              <a:rPr lang="en-IN" i="1" dirty="0"/>
              <a:t>. Model. Anal. Simul. </a:t>
            </a:r>
            <a:r>
              <a:rPr lang="en-IN" i="1" dirty="0" err="1"/>
              <a:t>Comput</a:t>
            </a:r>
            <a:r>
              <a:rPr lang="en-IN" i="1" dirty="0"/>
              <a:t>. </a:t>
            </a:r>
            <a:r>
              <a:rPr lang="en-IN" i="1" dirty="0" err="1"/>
              <a:t>Telecommun</a:t>
            </a:r>
            <a:r>
              <a:rPr lang="en-IN" i="1" dirty="0"/>
              <a:t>. Syst., pp. 264–276, 2018.</a:t>
            </a:r>
            <a:r>
              <a:rPr lang="en-IN" dirty="0"/>
              <a:t> Retrieved from </a:t>
            </a:r>
            <a:r>
              <a:rPr lang="en-IN" u="sng" dirty="0">
                <a:hlinkClick r:id="rId5"/>
              </a:rPr>
              <a:t>https://doi.org/10.1109/SRDS.2017.36</a:t>
            </a:r>
            <a:r>
              <a:rPr lang="en-IN" dirty="0"/>
              <a:t> </a:t>
            </a:r>
            <a:endParaRPr lang="en-CA" dirty="0"/>
          </a:p>
          <a:p>
            <a:pPr>
              <a:lnSpc>
                <a:spcPct val="107916"/>
              </a:lnSpc>
              <a:spcBef>
                <a:spcPts val="800"/>
              </a:spcBef>
            </a:pPr>
            <a:r>
              <a:rPr lang="en-IN" dirty="0" err="1"/>
              <a:t>Kaid</a:t>
            </a:r>
            <a:r>
              <a:rPr lang="en-IN" dirty="0"/>
              <a:t>, D., &amp; </a:t>
            </a:r>
            <a:r>
              <a:rPr lang="en-IN" dirty="0" err="1"/>
              <a:t>Eljazzar</a:t>
            </a:r>
            <a:r>
              <a:rPr lang="en-IN" dirty="0"/>
              <a:t>, M, M. (2008). Applying Blockchain to Automate </a:t>
            </a:r>
            <a:r>
              <a:rPr lang="en-IN" dirty="0" err="1"/>
              <a:t>Installments</a:t>
            </a:r>
            <a:r>
              <a:rPr lang="en-IN" dirty="0"/>
              <a:t> Payment between Supply Chain Parties. </a:t>
            </a:r>
            <a:r>
              <a:rPr lang="en-IN" i="1" dirty="0"/>
              <a:t>2018 14th International Computer Engineering Conference (ICENCO)</a:t>
            </a:r>
            <a:r>
              <a:rPr lang="en-IN" dirty="0"/>
              <a:t>, 231–235. Retrieved from </a:t>
            </a:r>
            <a:r>
              <a:rPr lang="en-IN" u="sng" dirty="0">
                <a:hlinkClick r:id="rId6"/>
              </a:rPr>
              <a:t>https://doi.org/10.1109/ICENCO.2018.8636131</a:t>
            </a:r>
            <a:endParaRPr lang="en-CA" dirty="0"/>
          </a:p>
          <a:p>
            <a:pPr>
              <a:lnSpc>
                <a:spcPct val="107916"/>
              </a:lnSpc>
              <a:spcBef>
                <a:spcPts val="800"/>
              </a:spcBef>
            </a:pPr>
            <a:r>
              <a:rPr lang="en-IN" dirty="0" err="1"/>
              <a:t>Dorri</a:t>
            </a:r>
            <a:r>
              <a:rPr lang="en-IN" dirty="0"/>
              <a:t>, A., Steger, M., </a:t>
            </a:r>
            <a:r>
              <a:rPr lang="en-IN" dirty="0" err="1"/>
              <a:t>Kanhere</a:t>
            </a:r>
            <a:r>
              <a:rPr lang="en-IN" dirty="0"/>
              <a:t>, S. S., &amp; </a:t>
            </a:r>
            <a:r>
              <a:rPr lang="en-IN" dirty="0" err="1"/>
              <a:t>Jurdak</a:t>
            </a:r>
            <a:r>
              <a:rPr lang="en-IN" dirty="0"/>
              <a:t>, R. (2017). </a:t>
            </a:r>
            <a:r>
              <a:rPr lang="en-IN" dirty="0" err="1"/>
              <a:t>BlockChain</a:t>
            </a:r>
            <a:r>
              <a:rPr lang="en-IN" dirty="0"/>
              <a:t>: A Distributed Solution to Automotive Security and Privacy. </a:t>
            </a:r>
            <a:r>
              <a:rPr lang="en-IN" i="1" dirty="0"/>
              <a:t>IEEE Communications Magazine</a:t>
            </a:r>
            <a:r>
              <a:rPr lang="en-IN" dirty="0"/>
              <a:t>, </a:t>
            </a:r>
            <a:r>
              <a:rPr lang="en-IN" i="1" dirty="0"/>
              <a:t>55</a:t>
            </a:r>
            <a:r>
              <a:rPr lang="en-IN" dirty="0"/>
              <a:t>(12), 119–125. Retrieved from </a:t>
            </a:r>
            <a:r>
              <a:rPr lang="en-IN" u="sng" dirty="0">
                <a:hlinkClick r:id="rId7"/>
              </a:rPr>
              <a:t>https://doi.org/10.1109/MCOM.2017.1700879</a:t>
            </a:r>
            <a:endParaRPr lang="en-CA" dirty="0"/>
          </a:p>
          <a:p>
            <a:pPr>
              <a:lnSpc>
                <a:spcPct val="107916"/>
              </a:lnSpc>
              <a:spcBef>
                <a:spcPts val="800"/>
              </a:spcBef>
            </a:pPr>
            <a:r>
              <a:rPr lang="en-IN" dirty="0" err="1"/>
              <a:t>Johng</a:t>
            </a:r>
            <a:r>
              <a:rPr lang="en-IN" dirty="0"/>
              <a:t>, H., Kim, D., Hill, T., &amp; Chung, L. (2018). Using Blockchain to Enhance the Trustworthiness of Business Processes : A Goal-Oriented Approach. </a:t>
            </a:r>
            <a:r>
              <a:rPr lang="en-IN" i="1" dirty="0"/>
              <a:t>2018 IEEE International Conference on Services Computing (SCC)</a:t>
            </a:r>
            <a:r>
              <a:rPr lang="en-IN" dirty="0"/>
              <a:t>, (</a:t>
            </a:r>
            <a:r>
              <a:rPr lang="en-IN" dirty="0" err="1"/>
              <a:t>Ic</a:t>
            </a:r>
            <a:r>
              <a:rPr lang="en-IN" dirty="0"/>
              <a:t>), 249–252. Retrieved from </a:t>
            </a:r>
            <a:r>
              <a:rPr lang="en-IN" u="sng" dirty="0">
                <a:hlinkClick r:id="rId8"/>
              </a:rPr>
              <a:t>https://doi.org/10.1109/SCC.2018.00041</a:t>
            </a:r>
            <a:endParaRPr lang="en-CA" dirty="0"/>
          </a:p>
          <a:p>
            <a:pPr>
              <a:lnSpc>
                <a:spcPct val="107916"/>
              </a:lnSpc>
              <a:spcBef>
                <a:spcPts val="800"/>
              </a:spcBef>
            </a:pPr>
            <a:endParaRPr lang="en-IN" dirty="0"/>
          </a:p>
          <a:p>
            <a:pPr lvl="0">
              <a:lnSpc>
                <a:spcPct val="107916"/>
              </a:lnSpc>
              <a:spcBef>
                <a:spcPts val="800"/>
              </a:spcBef>
            </a:pPr>
            <a:endParaRPr dirty="0">
              <a:solidFill>
                <a:schemeClr val="dk1"/>
              </a:solidFill>
              <a:latin typeface="Verdana" pitchFamily="34" charset="0"/>
              <a:ea typeface="Verdana" pitchFamily="34" charset="0"/>
              <a:cs typeface="Verdana" pitchFamily="34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37226-0CC5-4368-BE91-C3F2BC19CA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"/>
          <p:cNvSpPr txBox="1">
            <a:spLocks noGrp="1"/>
          </p:cNvSpPr>
          <p:nvPr>
            <p:ph type="title"/>
          </p:nvPr>
        </p:nvSpPr>
        <p:spPr>
          <a:xfrm>
            <a:off x="-20389" y="375060"/>
            <a:ext cx="7774632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Questions</a:t>
            </a:r>
            <a:endParaRPr/>
          </a:p>
        </p:txBody>
      </p:sp>
      <p:sp>
        <p:nvSpPr>
          <p:cNvPr id="365" name="Google Shape;365;p41"/>
          <p:cNvSpPr txBox="1"/>
          <p:nvPr/>
        </p:nvSpPr>
        <p:spPr>
          <a:xfrm>
            <a:off x="6849071" y="1708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A69C95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15</a:t>
            </a:fld>
            <a:endParaRPr sz="1200" b="0" i="0" u="none" strike="noStrike" cap="none">
              <a:solidFill>
                <a:srgbClr val="A69C9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1"/>
          <p:cNvSpPr txBox="1"/>
          <p:nvPr/>
        </p:nvSpPr>
        <p:spPr>
          <a:xfrm>
            <a:off x="1594759" y="2207302"/>
            <a:ext cx="8154151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Hyperledger Fabric and Vehicular Depreciation &amp; Ownership History</a:t>
            </a:r>
            <a:endParaRPr sz="2400" b="1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7" name="Google Shape;367;p41"/>
          <p:cNvSpPr txBox="1"/>
          <p:nvPr/>
        </p:nvSpPr>
        <p:spPr>
          <a:xfrm>
            <a:off x="989850" y="2533488"/>
            <a:ext cx="71643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1"/>
          <p:cNvSpPr txBox="1"/>
          <p:nvPr/>
        </p:nvSpPr>
        <p:spPr>
          <a:xfrm>
            <a:off x="989850" y="3735193"/>
            <a:ext cx="7164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 txBox="1"/>
          <p:nvPr/>
        </p:nvSpPr>
        <p:spPr>
          <a:xfrm>
            <a:off x="581887" y="3465561"/>
            <a:ext cx="7164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</a:rPr>
              <a:t>Presented by:  </a:t>
            </a:r>
            <a:r>
              <a:rPr lang="en-US" sz="1600" b="1" dirty="0">
                <a:solidFill>
                  <a:schemeClr val="dk1"/>
                </a:solidFill>
              </a:rPr>
              <a:t>Kaustubh Dutta</a:t>
            </a:r>
            <a:endParaRPr sz="1600" b="1" i="0" u="none" strike="noStrike" cap="none" dirty="0">
              <a:solidFill>
                <a:schemeClr val="dk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D67D4E-DAF6-472A-A37F-3BD5A9953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04" y="441967"/>
            <a:ext cx="2109478" cy="4535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uOttawa-powerpoint-template">
  <a:themeElements>
    <a:clrScheme name="Garne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Ottawa-powerpoint-template">
  <a:themeElements>
    <a:clrScheme name="Garne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819</Words>
  <Application>Microsoft Office PowerPoint</Application>
  <PresentationFormat>On-screen Show (4:3)</PresentationFormat>
  <Paragraphs>137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Noto Sans Symbols</vt:lpstr>
      <vt:lpstr>Wingdings</vt:lpstr>
      <vt:lpstr>Verdana</vt:lpstr>
      <vt:lpstr>Arial Black</vt:lpstr>
      <vt:lpstr>Times</vt:lpstr>
      <vt:lpstr>uOttawa-powerpoint-template</vt:lpstr>
      <vt:lpstr>uOttawa-powerpoint-template</vt:lpstr>
      <vt:lpstr>PowerPoint Presentation</vt:lpstr>
      <vt:lpstr>PowerPoint Presentation</vt:lpstr>
      <vt:lpstr>PowerPoint Presentation</vt:lpstr>
      <vt:lpstr>Differences</vt:lpstr>
      <vt:lpstr>PowerPoint Presentation</vt:lpstr>
      <vt:lpstr>What is an Asset</vt:lpstr>
      <vt:lpstr>Chaincode</vt:lpstr>
      <vt:lpstr>Permissions</vt:lpstr>
      <vt:lpstr>Types of Nodes</vt:lpstr>
      <vt:lpstr>Tracking an Asset</vt:lpstr>
      <vt:lpstr>Distributed Ledger</vt:lpstr>
      <vt:lpstr>Future Impacts of Hyperledger</vt:lpstr>
      <vt:lpstr>Assignment Walkthrough</vt:lpstr>
      <vt:lpstr>References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Dutta, Kaustubh (Nokia - CA/Ottawa)</cp:lastModifiedBy>
  <cp:revision>42</cp:revision>
  <dcterms:modified xsi:type="dcterms:W3CDTF">2019-08-22T07:02:35Z</dcterms:modified>
</cp:coreProperties>
</file>